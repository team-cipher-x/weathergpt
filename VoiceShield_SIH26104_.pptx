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51560" y="621792"/>
            <a:ext cx="5486400" cy="1234440"/>
          </a:xfrm>
        </p:spPr>
        <p:txBody>
          <a:bodyPr wrap="square" lIns="36576" tIns="36576" rIns="36576" bIns="36576" anchor="ctr"/>
          <a:lstStyle/>
          <a:p>
            <a:pPr algn="ctr"/>
            <a:r>
              <a:rPr sz="4200" b="1">
                <a:solidFill>
                  <a:srgbClr val="232323"/>
                </a:solidFill>
                <a:latin typeface="Georgia"/>
              </a:rPr>
              <a:t>VOICE SHIELD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 lIns="36576" tIns="36576" rIns="36576" bIns="36576" anchor="ctr"/>
          <a:lstStyle/>
          <a:p>
            <a:pPr algn="ctr"/>
            <a:r>
              <a:rPr sz="2500" b="1">
                <a:solidFill>
                  <a:srgbClr val="255287"/>
                </a:solidFill>
                <a:latin typeface="Arial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" y="2057400"/>
            <a:ext cx="5989320" cy="4069080"/>
          </a:xfrm>
          <a:prstGeom prst="rect">
            <a:avLst/>
          </a:prstGeom>
          <a:noFill/>
        </p:spPr>
        <p:txBody>
          <a:bodyPr wrap="square" lIns="36576" tIns="36576" rIns="36576" bIns="36576" rtlCol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32323"/>
                </a:solidFill>
                <a:latin typeface="Arial"/>
              </a:rPr>
              <a:t>Problem Statement ID – SIH26104
Problem Statement Title – AI-Powered Real-Time Detection and Prevention of Voice Cloning Impersonation Attacks
Theme – Miscellaneous
PS Category – Software
Team Name – CIPHER X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36576" tIns="36576" rIns="36576" bIns="36576" anchor="ctr"/>
          <a:lstStyle/>
          <a:p>
            <a:pPr algn="ctr" eaLnBrk="1" hangingPunct="1"/>
            <a:r>
              <a:rPr sz="3100" b="1">
                <a:solidFill>
                  <a:srgbClr val="232323"/>
                </a:solidFill>
                <a:latin typeface="Georgia"/>
              </a:rPr>
              <a:t>VOICE SHIELD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30352" y="12984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B588F"/>
                </a:solidFill>
                <a:latin typeface="Aptos"/>
              </a:rPr>
              <a:t>The idea: catch a cloned voice before it can be used to deceive, in real time.</a:t>
            </a:r>
          </a:p>
        </p:txBody>
      </p:sp>
      <p:sp>
        <p:nvSpPr>
          <p:cNvPr id="15364" name="Oval 15363"/>
          <p:cNvSpPr/>
          <p:nvPr/>
        </p:nvSpPr>
        <p:spPr>
          <a:xfrm>
            <a:off x="320040" y="256032"/>
            <a:ext cx="1280160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CIPHER X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02920" y="1783080"/>
            <a:ext cx="3510000" cy="241529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TextBox 15365"/>
          <p:cNvSpPr txBox="1"/>
          <p:nvPr/>
        </p:nvSpPr>
        <p:spPr>
          <a:xfrm>
            <a:off x="746220" y="2132264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dirty="0">
                <a:solidFill>
                  <a:srgbClr val="2B588F"/>
                </a:solidFill>
                <a:latin typeface="Aptos"/>
              </a:rPr>
              <a:t>01  Cloned voices
     fool humans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813816" y="2863048"/>
            <a:ext cx="289864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32323"/>
                </a:solidFill>
                <a:latin typeface="Aptos"/>
              </a:rPr>
              <a:t>Modern voice clones sound natural enough that listeners can no longer reliably tell a real caller from a synthetic one.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160520" y="1783080"/>
            <a:ext cx="3510000" cy="2485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TextBox 15368"/>
          <p:cNvSpPr txBox="1"/>
          <p:nvPr/>
        </p:nvSpPr>
        <p:spPr>
          <a:xfrm>
            <a:off x="4361688" y="221992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dirty="0">
                <a:solidFill>
                  <a:srgbClr val="2B588F"/>
                </a:solidFill>
                <a:latin typeface="Aptos"/>
              </a:rPr>
              <a:t>02  Attacks happen live, not after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471416" y="2871905"/>
            <a:ext cx="289864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32323"/>
                </a:solidFill>
                <a:latin typeface="Aptos"/>
              </a:rPr>
              <a:t>Vishing and impersonation calls succeed or fail within seconds, so detection must run during the call, not in after-the-fact forensics.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7747920" y="1724136"/>
            <a:ext cx="3585000" cy="265121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TextBox 15371"/>
          <p:cNvSpPr txBox="1"/>
          <p:nvPr/>
        </p:nvSpPr>
        <p:spPr>
          <a:xfrm>
            <a:off x="8147422" y="2148840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dirty="0">
                <a:solidFill>
                  <a:srgbClr val="2B588F"/>
                </a:solidFill>
                <a:latin typeface="Aptos"/>
              </a:rPr>
              <a:t>03  No easy way to verify a caller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8147422" y="2872494"/>
            <a:ext cx="289864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32323"/>
                </a:solidFill>
                <a:latin typeface="Aptos"/>
              </a:rPr>
              <a:t>Banks, call </a:t>
            </a:r>
            <a:r>
              <a:rPr sz="1400" b="0" dirty="0" err="1">
                <a:solidFill>
                  <a:srgbClr val="232323"/>
                </a:solidFill>
                <a:latin typeface="Aptos"/>
              </a:rPr>
              <a:t>centres</a:t>
            </a:r>
            <a:r>
              <a:rPr sz="1400" b="0" dirty="0">
                <a:solidFill>
                  <a:srgbClr val="232323"/>
                </a:solidFill>
                <a:latin typeface="Aptos"/>
              </a:rPr>
              <a:t> and families have no lightweight way to confirm a voice on the line is genuine before acting on it.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632460" y="4521405"/>
            <a:ext cx="10927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>
                <a:solidFill>
                  <a:srgbClr val="232323"/>
                </a:solidFill>
                <a:latin typeface="Aptos"/>
              </a:rPr>
              <a:t>Our difference: analyze the voice as it's spoken, flag synthetic audio with a confidence score, and alert the user before damage is done.</a:t>
            </a:r>
          </a:p>
        </p:txBody>
      </p:sp>
      <p:sp>
        <p:nvSpPr>
          <p:cNvPr id="20002" name="SysArch Label"/>
          <p:cNvSpPr txBox="1"/>
          <p:nvPr/>
        </p:nvSpPr>
        <p:spPr>
          <a:xfrm>
            <a:off x="530352" y="5120810"/>
            <a:ext cx="42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200" b="1" dirty="0">
                <a:solidFill>
                  <a:srgbClr val="5B21B6"/>
                </a:solidFill>
                <a:latin typeface="Arial"/>
              </a:rPr>
              <a:t>SYSTEM ARCHITECTURE</a:t>
            </a:r>
          </a:p>
        </p:txBody>
      </p:sp>
      <p:sp>
        <p:nvSpPr>
          <p:cNvPr id="20003" name="SysArch Box 1"/>
          <p:cNvSpPr/>
          <p:nvPr/>
        </p:nvSpPr>
        <p:spPr>
          <a:xfrm>
            <a:off x="182998" y="5520056"/>
            <a:ext cx="1999922" cy="1081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00" b="1" dirty="0">
                <a:solidFill>
                  <a:srgbClr val="5B21B6"/>
                </a:solidFill>
                <a:latin typeface="Arial"/>
              </a:rPr>
              <a:t>Audio Capture</a:t>
            </a:r>
          </a:p>
          <a:p>
            <a:pPr algn="ctr">
              <a:spcBef>
                <a:spcPts val="200"/>
              </a:spcBef>
            </a:pPr>
            <a:r>
              <a:rPr sz="650" dirty="0">
                <a:solidFill>
                  <a:srgbClr val="232323"/>
                </a:solidFill>
                <a:latin typeface="Arial"/>
              </a:rPr>
              <a:t>Mic / call / VoIP stream</a:t>
            </a:r>
          </a:p>
        </p:txBody>
      </p:sp>
      <p:sp>
        <p:nvSpPr>
          <p:cNvPr id="20004" name="SysArch Arrow 1"/>
          <p:cNvSpPr/>
          <p:nvPr/>
        </p:nvSpPr>
        <p:spPr>
          <a:xfrm>
            <a:off x="2182920" y="6215856"/>
            <a:ext cx="150000" cy="160000"/>
          </a:xfrm>
          <a:prstGeom prst="rightArrow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05" name="SysArch Box 2"/>
          <p:cNvSpPr/>
          <p:nvPr/>
        </p:nvSpPr>
        <p:spPr>
          <a:xfrm>
            <a:off x="2332920" y="5547898"/>
            <a:ext cx="1702956" cy="1081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00" b="1">
                <a:solidFill>
                  <a:srgbClr val="5B21B6"/>
                </a:solidFill>
                <a:latin typeface="Arial"/>
              </a:rPr>
              <a:t>Preprocessing</a:t>
            </a:r>
          </a:p>
          <a:p>
            <a:pPr algn="ctr">
              <a:spcBef>
                <a:spcPts val="200"/>
              </a:spcBef>
            </a:pPr>
            <a:r>
              <a:rPr sz="650">
                <a:solidFill>
                  <a:srgbClr val="232323"/>
                </a:solidFill>
                <a:latin typeface="Arial"/>
              </a:rPr>
              <a:t>Denoise + resample</a:t>
            </a:r>
          </a:p>
        </p:txBody>
      </p:sp>
      <p:sp>
        <p:nvSpPr>
          <p:cNvPr id="20006" name="SysArch Arrow 2"/>
          <p:cNvSpPr/>
          <p:nvPr/>
        </p:nvSpPr>
        <p:spPr>
          <a:xfrm>
            <a:off x="4012920" y="6215856"/>
            <a:ext cx="150000" cy="160000"/>
          </a:xfrm>
          <a:prstGeom prst="rightArrow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07" name="SysArch Box 3"/>
          <p:cNvSpPr/>
          <p:nvPr/>
        </p:nvSpPr>
        <p:spPr>
          <a:xfrm>
            <a:off x="4185876" y="5584034"/>
            <a:ext cx="1784088" cy="10457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00" b="1">
                <a:solidFill>
                  <a:srgbClr val="5B21B6"/>
                </a:solidFill>
                <a:latin typeface="Arial"/>
              </a:rPr>
              <a:t>Feature Extraction</a:t>
            </a:r>
          </a:p>
          <a:p>
            <a:pPr algn="ctr">
              <a:spcBef>
                <a:spcPts val="200"/>
              </a:spcBef>
            </a:pPr>
            <a:r>
              <a:rPr sz="650">
                <a:solidFill>
                  <a:srgbClr val="232323"/>
                </a:solidFill>
                <a:latin typeface="Arial"/>
              </a:rPr>
              <a:t>MFCC + spectrogram</a:t>
            </a:r>
          </a:p>
        </p:txBody>
      </p:sp>
      <p:sp>
        <p:nvSpPr>
          <p:cNvPr id="20008" name="SysArch Arrow 3"/>
          <p:cNvSpPr/>
          <p:nvPr/>
        </p:nvSpPr>
        <p:spPr>
          <a:xfrm>
            <a:off x="5842920" y="6215856"/>
            <a:ext cx="150000" cy="160000"/>
          </a:xfrm>
          <a:prstGeom prst="rightArrow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09" name="SysArch Box 4"/>
          <p:cNvSpPr/>
          <p:nvPr/>
        </p:nvSpPr>
        <p:spPr>
          <a:xfrm>
            <a:off x="6015876" y="5635856"/>
            <a:ext cx="1732044" cy="96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00" b="1" dirty="0">
                <a:solidFill>
                  <a:srgbClr val="5B21B6"/>
                </a:solidFill>
                <a:latin typeface="Arial"/>
              </a:rPr>
              <a:t>Deepfake Classifier</a:t>
            </a:r>
          </a:p>
          <a:p>
            <a:pPr algn="ctr">
              <a:spcBef>
                <a:spcPts val="200"/>
              </a:spcBef>
            </a:pPr>
            <a:r>
              <a:rPr sz="650" dirty="0">
                <a:solidFill>
                  <a:srgbClr val="232323"/>
                </a:solidFill>
                <a:latin typeface="Arial"/>
              </a:rPr>
              <a:t>CNN/RNN + guardrails</a:t>
            </a:r>
          </a:p>
        </p:txBody>
      </p:sp>
      <p:sp>
        <p:nvSpPr>
          <p:cNvPr id="20010" name="SysArch Arrow 4"/>
          <p:cNvSpPr/>
          <p:nvPr/>
        </p:nvSpPr>
        <p:spPr>
          <a:xfrm>
            <a:off x="7672920" y="6215856"/>
            <a:ext cx="150000" cy="160000"/>
          </a:xfrm>
          <a:prstGeom prst="rightArrow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11" name="SysArch Box 5"/>
          <p:cNvSpPr/>
          <p:nvPr/>
        </p:nvSpPr>
        <p:spPr>
          <a:xfrm>
            <a:off x="7860420" y="5661876"/>
            <a:ext cx="1732044" cy="9661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00" b="1" dirty="0">
                <a:solidFill>
                  <a:srgbClr val="5B21B6"/>
                </a:solidFill>
                <a:latin typeface="Arial"/>
              </a:rPr>
              <a:t>Alert / Response</a:t>
            </a:r>
          </a:p>
          <a:p>
            <a:pPr algn="ctr">
              <a:spcBef>
                <a:spcPts val="200"/>
              </a:spcBef>
            </a:pPr>
            <a:r>
              <a:rPr sz="650" dirty="0">
                <a:solidFill>
                  <a:srgbClr val="232323"/>
                </a:solidFill>
                <a:latin typeface="Arial"/>
              </a:rPr>
              <a:t>Score + block/flag</a:t>
            </a:r>
          </a:p>
        </p:txBody>
      </p:sp>
      <p:sp>
        <p:nvSpPr>
          <p:cNvPr id="20012" name="SysArch Arrow 5"/>
          <p:cNvSpPr/>
          <p:nvPr/>
        </p:nvSpPr>
        <p:spPr>
          <a:xfrm>
            <a:off x="9502920" y="6215856"/>
            <a:ext cx="150000" cy="160000"/>
          </a:xfrm>
          <a:prstGeom prst="rightArrow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13" name="SysArch Box 6"/>
          <p:cNvSpPr/>
          <p:nvPr/>
        </p:nvSpPr>
        <p:spPr>
          <a:xfrm>
            <a:off x="9698832" y="5690401"/>
            <a:ext cx="1860708" cy="9661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00" b="1">
                <a:solidFill>
                  <a:srgbClr val="5B21B6"/>
                </a:solidFill>
                <a:latin typeface="Arial"/>
              </a:rPr>
              <a:t>App / Dashboard</a:t>
            </a:r>
          </a:p>
          <a:p>
            <a:pPr algn="ctr">
              <a:spcBef>
                <a:spcPts val="200"/>
              </a:spcBef>
            </a:pPr>
            <a:r>
              <a:rPr sz="650">
                <a:solidFill>
                  <a:srgbClr val="232323"/>
                </a:solidFill>
                <a:latin typeface="Arial"/>
              </a:rPr>
              <a:t>Live alerts, call 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232323"/>
                </a:solidFill>
                <a:latin typeface="Arial"/>
              </a:rPr>
              <a:t>CIPHER 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02920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/>
            <a:r>
              <a:rPr sz="1100" b="1">
                <a:solidFill>
                  <a:srgbClr val="5B21B6"/>
                </a:solidFill>
                <a:latin typeface="Arial"/>
              </a:rPr>
              <a:t>Audio Capture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Mic / call / VoIP stream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2075688" y="2395728"/>
            <a:ext cx="320040" cy="347472"/>
          </a:xfrm>
          <a:prstGeom prst="rightArrow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2423160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/>
            <a:r>
              <a:rPr sz="1100" b="1">
                <a:solidFill>
                  <a:srgbClr val="5B21B6"/>
                </a:solidFill>
                <a:latin typeface="Arial"/>
              </a:rPr>
              <a:t>Preprocessing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Denoise + resample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3995928" y="2395728"/>
            <a:ext cx="320040" cy="347472"/>
          </a:xfrm>
          <a:prstGeom prst="rightArrow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4343400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/>
            <a:r>
              <a:rPr sz="1100" b="1">
                <a:solidFill>
                  <a:srgbClr val="5B21B6"/>
                </a:solidFill>
                <a:latin typeface="Arial"/>
              </a:rPr>
              <a:t>Feature Extractor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MFCC + spectrogram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5916168" y="2395728"/>
            <a:ext cx="320040" cy="347472"/>
          </a:xfrm>
          <a:prstGeom prst="rightArrow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6263640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/>
            <a:r>
              <a:rPr sz="1100" b="1">
                <a:solidFill>
                  <a:srgbClr val="5B21B6"/>
                </a:solidFill>
                <a:latin typeface="Arial"/>
              </a:rPr>
              <a:t>Verified Decision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Confidence + guardrails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7836408" y="2395728"/>
            <a:ext cx="320040" cy="347472"/>
          </a:xfrm>
          <a:prstGeom prst="rightArrow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8183879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/>
            <a:r>
              <a:rPr sz="1100" b="1">
                <a:solidFill>
                  <a:srgbClr val="5B21B6"/>
                </a:solidFill>
                <a:latin typeface="Arial"/>
              </a:rPr>
              <a:t>Alert / Response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Block, flag, notify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9756648" y="2395728"/>
            <a:ext cx="320040" cy="347472"/>
          </a:xfrm>
          <a:prstGeom prst="rightArrow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10104120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/>
            <a:r>
              <a:rPr sz="1100" b="1">
                <a:solidFill>
                  <a:srgbClr val="5B21B6"/>
                </a:solidFill>
                <a:latin typeface="Arial"/>
              </a:rPr>
              <a:t>App / Dashboard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Live alerts, call log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85800" y="118872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• How the system works: capture → extract features → classify → verify → alert → respond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0080" y="3749039"/>
            <a:ext cx="5257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latin typeface="Aptos"/>
              </a:rPr>
              <a:t>APP / WEBSITE FLOW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0080" y="4133087"/>
            <a:ext cx="5257800" cy="1508760"/>
          </a:xfrm>
          <a:prstGeom prst="rect">
            <a:avLst/>
          </a:prstGeom>
          <a:noFill/>
        </p:spPr>
        <p:txBody>
          <a:bodyPr wrap="square" lIns="27432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A call or audio stream enters the system in real time.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Short, overlapping audio windows are captured continuously.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Each window is converted into MFCC and spectrogram features.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The classifier scores each window as genuine or synthetic speech.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080760" y="3749039"/>
            <a:ext cx="5257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latin typeface="Aptos"/>
              </a:rPr>
              <a:t>RELIABILITY + DELIVERY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080760" y="4133087"/>
            <a:ext cx="5257800" cy="1508760"/>
          </a:xfrm>
          <a:prstGeom prst="rect">
            <a:avLst/>
          </a:prstGeom>
          <a:noFill/>
        </p:spPr>
        <p:txBody>
          <a:bodyPr wrap="square" lIns="27432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Detection decisions are grounded only in extracted acoustic features, not guesswork.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Guardrails flag low-confidence cases for human review instead of auto-blocking.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Recent voice patterns are cached for fast, low-latency scoring.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Alerts and call logs are delivered through a web/mobile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232323"/>
                </a:solidFill>
                <a:latin typeface="Arial"/>
              </a:rPr>
              <a:t>CIPHER 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85800" y="129844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TECHNICAL FEASIBILITY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13232" y="1719072"/>
            <a:ext cx="5074920" cy="1874519"/>
          </a:xfrm>
          <a:prstGeom prst="rect">
            <a:avLst/>
          </a:prstGeom>
          <a:noFill/>
        </p:spPr>
        <p:txBody>
          <a:bodyPr wrap="square" lIns="27432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Built on proven audio features — MFCCs and spectrograms.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Lightweight CNN/RNN models run near real time on standard hardware.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Modular pipeline lets each stage be upgraded independently.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Streaming design scores short audio windows, not full calls.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26480" y="1298448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VIABILITY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144768" y="1719072"/>
            <a:ext cx="5010912" cy="1874519"/>
          </a:xfrm>
          <a:prstGeom prst="rect">
            <a:avLst/>
          </a:prstGeom>
          <a:noFill/>
        </p:spPr>
        <p:txBody>
          <a:bodyPr wrap="square" lIns="27432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Targets banks, call centres, telecom operators and individuals exposed to vishing fraud.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The same detection core can scale from a personal app to enterprise call infrastructure.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Open audio-processing libraries and public spoofing datasets keep development cost low.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Detection models can be retrained as new cloning techniques emerge.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85800" y="3931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HOW WE KEEP THE SYSTEM RELIABLE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13232" y="4370832"/>
            <a:ext cx="10469880" cy="1234440"/>
          </a:xfrm>
          <a:prstGeom prst="rect">
            <a:avLst/>
          </a:prstGeom>
          <a:noFill/>
        </p:spPr>
        <p:txBody>
          <a:bodyPr wrap="square" lIns="27432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Ground every decision in measurable acoustic features, not assumptions about the speaker.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Treat borderline confidence scores as “flag for review,” never a silent false accusation.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Continuously retrain on new spoofing methods so the model doesn't go stale.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Keep the pipeline modular so individual stages can be improved without rebuilding the system.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232323"/>
                </a:solidFill>
                <a:latin typeface="Arial"/>
              </a:rPr>
              <a:t>CIPHER 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85800" y="1234440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IMPACT — WHAT CHANGES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13232" y="1691640"/>
            <a:ext cx="5074920" cy="3429000"/>
          </a:xfrm>
          <a:prstGeom prst="rect">
            <a:avLst/>
          </a:prstGeom>
          <a:noFill/>
        </p:spPr>
        <p:txBody>
          <a:bodyPr wrap="square" lIns="27432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Faster identification of fraudulent calls before money or data changes hands.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Reduced success rate of vishing and executive-impersonation scams.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Safer call verification for banks, call centres and vulnerable individuals.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Stronger public trust in voice-based communication.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26480" y="1234440"/>
            <a:ext cx="5074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BENEFITS — WHAT USERS GAIN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144768" y="1691640"/>
            <a:ext cx="4983480" cy="3429000"/>
          </a:xfrm>
          <a:prstGeom prst="rect">
            <a:avLst/>
          </a:prstGeom>
          <a:noFill/>
        </p:spPr>
        <p:txBody>
          <a:bodyPr wrap="square" lIns="27432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Real-time warning instead of discovering fraud after the fact.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Lower financial losses from voice-based impersonation scams.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A simple confidence score instead of needing audio-forensics expertise.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One dashboard for call verification, alerts and history.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52120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• Goal: catch the clone while it’s speaking → stop the fraud before it happens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232323"/>
                </a:solidFill>
                <a:latin typeface="Arial"/>
              </a:rPr>
              <a:t>CIPHER 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31520" y="1874519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5B21B6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097280" y="1874519"/>
            <a:ext cx="10058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Audio Deepfake Detection: A Survey — arXiv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97280" y="2221991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21B6"/>
                </a:solidFill>
                <a:latin typeface="Arial"/>
              </a:rPr>
              <a:t>https://arxiv.org/abs/2308.14970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31520" y="2770632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5B21B6"/>
                </a:solidFill>
                <a:latin typeface="Arial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097280" y="2770632"/>
            <a:ext cx="10058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AASIST: Audio Anti-Spoofing Using Integrated Spectro-Temporal Graph Attention Networks — arXiv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097280" y="3118103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21B6"/>
                </a:solidFill>
                <a:latin typeface="Arial"/>
              </a:rPr>
              <a:t>https://arxiv.org/abs/2110.01200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3666744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5B21B6"/>
                </a:solidFill>
                <a:latin typeface="Arial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97280" y="3666744"/>
            <a:ext cx="10058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ASVspoof 5: Crowdsourced Speech Data, Deepfakes, and Adversarial Attacks at Scale — arXiv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1097280" y="4014215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21B6"/>
                </a:solidFill>
                <a:latin typeface="Arial"/>
              </a:rPr>
              <a:t>https://arxiv.org/abs/2408.08739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31520" y="4562856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5B21B6"/>
                </a:solidFill>
                <a:latin typeface="Arial"/>
              </a:rPr>
              <a:t>4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097280" y="4562856"/>
            <a:ext cx="10058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Deepfake Audio Detection via MFCC Features Using Machine Learning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097280" y="4910328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21B6"/>
                </a:solidFill>
                <a:latin typeface="Arial"/>
              </a:rPr>
              <a:t>https://www.researchgate.net/publication/366489016_Deepfake_Audio_Detection_via_MFCC_features_using_Machine_Learning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85800" y="1143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latin typeface="Aptos"/>
              </a:rPr>
              <a:t>• References used for the audio deepfake detection approach: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7501</TotalTime>
  <Words>833</Words>
  <Application>Microsoft Office PowerPoint</Application>
  <PresentationFormat>Widescreen</PresentationFormat>
  <Paragraphs>109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Georgia</vt:lpstr>
      <vt:lpstr>Times New Roman</vt:lpstr>
      <vt:lpstr>TradeGothic</vt:lpstr>
      <vt:lpstr>Office Theme</vt:lpstr>
      <vt:lpstr>SMART INDIA HACKATHON 2026</vt:lpstr>
      <vt:lpstr>VOICE SHIELD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Prathika Thamizharasu</cp:lastModifiedBy>
  <cp:revision>150</cp:revision>
  <dcterms:created xsi:type="dcterms:W3CDTF">2013-12-12T18:46:50Z</dcterms:created>
  <dcterms:modified xsi:type="dcterms:W3CDTF">2026-09-05T13:01:22Z</dcterms:modified>
  <cp:category/>
</cp:coreProperties>
</file>